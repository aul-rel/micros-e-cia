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</p:sldIdLst>
  <p:sldSz cx="32399288" cy="43200638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" d="100"/>
          <a:sy n="10" d="100"/>
        </p:scale>
        <p:origin x="2436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4571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9073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>
                    <a:tint val="82000"/>
                  </a:schemeClr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82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82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024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4167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2675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1432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27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83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3796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7285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1652C-FA45-40A6-9A10-3C463D436116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2455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1652C-FA45-40A6-9A10-3C463D436116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F109C-527C-4CEF-8E16-A4E430C089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453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icros.cia@g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icrosecia.com.b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BB26FF5E-B927-F5CF-8CD1-4ED38B0B57AB}"/>
              </a:ext>
            </a:extLst>
          </p:cNvPr>
          <p:cNvSpPr/>
          <p:nvPr/>
        </p:nvSpPr>
        <p:spPr>
          <a:xfrm>
            <a:off x="8120063" y="1082842"/>
            <a:ext cx="23327520" cy="4664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" name="Imagem 4" descr="Texto, Logotipo&#10;&#10;Descrição gerada automaticamente">
            <a:extLst>
              <a:ext uri="{FF2B5EF4-FFF2-40B4-BE49-F238E27FC236}">
                <a16:creationId xmlns:a16="http://schemas.microsoft.com/office/drawing/2014/main" id="{2FE1DEB6-F4C6-1413-B43D-2C2AADC5D8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9393" y="882839"/>
            <a:ext cx="9123074" cy="5245768"/>
          </a:xfrm>
          <a:prstGeom prst="rect">
            <a:avLst/>
          </a:prstGeom>
        </p:spPr>
      </p:pic>
      <p:sp>
        <p:nvSpPr>
          <p:cNvPr id="22" name="Text Box 2">
            <a:extLst>
              <a:ext uri="{FF2B5EF4-FFF2-40B4-BE49-F238E27FC236}">
                <a16:creationId xmlns:a16="http://schemas.microsoft.com/office/drawing/2014/main" id="{C20853C3-706B-73E8-8D62-31758612E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773" y="483266"/>
            <a:ext cx="24930100" cy="8086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spcBef>
                <a:spcPts val="2625"/>
              </a:spcBef>
              <a:buClrTx/>
              <a:buFontTx/>
              <a:buNone/>
            </a:pPr>
            <a:endParaRPr lang="pt-BR" altLang="pt-BR" sz="4200" b="1" dirty="0"/>
          </a:p>
          <a:p>
            <a:pPr algn="ctr">
              <a:spcBef>
                <a:spcPts val="2625"/>
              </a:spcBef>
              <a:buClrTx/>
              <a:buFontTx/>
              <a:buNone/>
            </a:pPr>
            <a:r>
              <a:rPr lang="pt-BR" altLang="pt-BR" sz="4200" b="1" dirty="0">
                <a:solidFill>
                  <a:schemeClr val="bg1"/>
                </a:solidFill>
              </a:rPr>
              <a:t>PROJETO DE EXTENSÃO – PROJETO MICROS &amp; CIA</a:t>
            </a:r>
          </a:p>
          <a:p>
            <a:pPr algn="ctr"/>
            <a:endParaRPr lang="pt-BR" sz="2800" dirty="0">
              <a:solidFill>
                <a:schemeClr val="bg1"/>
              </a:solidFill>
            </a:endParaRPr>
          </a:p>
          <a:p>
            <a:pPr algn="ctr"/>
            <a:r>
              <a:rPr lang="pt-BR" sz="2400" b="1" dirty="0">
                <a:solidFill>
                  <a:schemeClr val="bg1"/>
                </a:solidFill>
              </a:rPr>
              <a:t>AURÉLLIO JEFFERSON FALKOSKI – RA 3024105306</a:t>
            </a:r>
            <a:br>
              <a:rPr lang="pt-BR" sz="2400" b="1" dirty="0">
                <a:solidFill>
                  <a:schemeClr val="bg1"/>
                </a:solidFill>
              </a:rPr>
            </a:br>
            <a:r>
              <a:rPr lang="pt-BR" sz="2400" b="1" dirty="0">
                <a:solidFill>
                  <a:schemeClr val="bg1"/>
                </a:solidFill>
              </a:rPr>
              <a:t>GABRIELLA CRISTINA RAMALHO SOBRINHO – RA 3026105485</a:t>
            </a:r>
          </a:p>
          <a:p>
            <a:pPr algn="ctr"/>
            <a:r>
              <a:rPr lang="pt-BR" sz="2400" b="1" dirty="0">
                <a:solidFill>
                  <a:schemeClr val="bg1"/>
                </a:solidFill>
              </a:rPr>
              <a:t>ITALO OSHIRO NAKAMOTO – RA 3024104366</a:t>
            </a:r>
          </a:p>
          <a:p>
            <a:pPr algn="ctr"/>
            <a:r>
              <a:rPr lang="pt-BR" sz="2400" b="1" dirty="0">
                <a:solidFill>
                  <a:schemeClr val="bg1"/>
                </a:solidFill>
              </a:rPr>
              <a:t>JOÃO VITOR LOPES BROCHI – RA 3026101850</a:t>
            </a:r>
          </a:p>
          <a:p>
            <a:pPr algn="ctr"/>
            <a:r>
              <a:rPr lang="pt-BR" sz="2400" b="1" dirty="0">
                <a:solidFill>
                  <a:schemeClr val="bg1"/>
                </a:solidFill>
              </a:rPr>
              <a:t>KAROLINY BOM JARDIM FALCÃO – RA 3025101292</a:t>
            </a:r>
          </a:p>
          <a:p>
            <a:pPr algn="ctr"/>
            <a:r>
              <a:rPr lang="pt-BR" sz="2400" b="1" dirty="0">
                <a:solidFill>
                  <a:schemeClr val="bg1"/>
                </a:solidFill>
              </a:rPr>
              <a:t>LUCCAS FELIPE FERREIRA SILVA – RA 3024100463</a:t>
            </a:r>
          </a:p>
          <a:p>
            <a:pPr algn="ctr"/>
            <a:r>
              <a:rPr lang="pt-BR" sz="2400" b="1" dirty="0">
                <a:solidFill>
                  <a:schemeClr val="bg1"/>
                </a:solidFill>
              </a:rPr>
              <a:t>MATHEUS GUEDES – RA 3024102266</a:t>
            </a:r>
          </a:p>
          <a:p>
            <a:pPr algn="ctr"/>
            <a:r>
              <a:rPr lang="pt-BR" sz="2400" b="1" dirty="0">
                <a:solidFill>
                  <a:schemeClr val="bg1"/>
                </a:solidFill>
              </a:rPr>
              <a:t>RODRIGO KELIS – RA 3026105862</a:t>
            </a:r>
          </a:p>
          <a:p>
            <a:br>
              <a:rPr lang="pt-BR" sz="4400" dirty="0"/>
            </a:br>
            <a:br>
              <a:rPr lang="pt-BR" sz="4400" b="1" dirty="0">
                <a:solidFill>
                  <a:schemeClr val="bg1"/>
                </a:solidFill>
              </a:rPr>
            </a:br>
            <a:endParaRPr lang="pt-BR" altLang="pt-BR" sz="4200" b="1" dirty="0">
              <a:solidFill>
                <a:schemeClr val="bg1"/>
              </a:solidFill>
            </a:endParaRPr>
          </a:p>
          <a:p>
            <a:pPr algn="ctr">
              <a:spcBef>
                <a:spcPts val="2625"/>
              </a:spcBef>
              <a:buClrTx/>
              <a:buFontTx/>
              <a:buNone/>
            </a:pPr>
            <a:endParaRPr lang="pt-BR" altLang="pt-BR" sz="4200" b="1" dirty="0"/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04EA8491-46E9-CEFD-AF4C-F952C9AAB0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4182" y="42192969"/>
            <a:ext cx="27063700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  <a:tab pos="14825663" algn="l"/>
                <a:tab pos="15274925" algn="l"/>
                <a:tab pos="15724188" algn="l"/>
                <a:tab pos="16173450" algn="l"/>
                <a:tab pos="16622713" algn="l"/>
                <a:tab pos="17071975" algn="l"/>
                <a:tab pos="17521238" algn="l"/>
                <a:tab pos="17970500" algn="l"/>
                <a:tab pos="18419763" algn="l"/>
                <a:tab pos="1886902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>
              <a:buClrTx/>
              <a:buFontTx/>
              <a:buNone/>
            </a:pPr>
            <a:r>
              <a:rPr lang="pt-BR" altLang="pt-BR" sz="4000" dirty="0">
                <a:latin typeface="Garamond" panose="02020404030301010803" pitchFamily="18" charset="0"/>
                <a:cs typeface="Times New Roman" panose="02020603050405020304" pitchFamily="18" charset="0"/>
              </a:rPr>
              <a:t>SÃO PAULO/2026</a:t>
            </a:r>
            <a:endParaRPr lang="pt-BR" altLang="pt-BR" sz="4000" dirty="0"/>
          </a:p>
        </p:txBody>
      </p:sp>
      <p:sp>
        <p:nvSpPr>
          <p:cNvPr id="25" name="Text Box 5">
            <a:extLst>
              <a:ext uri="{FF2B5EF4-FFF2-40B4-BE49-F238E27FC236}">
                <a16:creationId xmlns:a16="http://schemas.microsoft.com/office/drawing/2014/main" id="{F6A21990-4946-7179-FE27-68E8666CD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816" y="20635818"/>
            <a:ext cx="13841413" cy="5511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4400" b="1" dirty="0"/>
              <a:t>DIAGNÓSTICO</a:t>
            </a:r>
          </a:p>
          <a:p>
            <a:pPr>
              <a:buClrTx/>
              <a:buFontTx/>
              <a:buNone/>
            </a:pPr>
            <a:endParaRPr lang="pt-BR" altLang="pt-BR" sz="4400" dirty="0"/>
          </a:p>
          <a:p>
            <a:pPr>
              <a:buClrTx/>
              <a:buFontTx/>
              <a:buNone/>
            </a:pPr>
            <a:r>
              <a:rPr lang="pt-BR" sz="4400" dirty="0"/>
              <a:t>A empresa Micros &amp; Cia, apesar de possuir várias opções para contato, nunca teve um website com objetivos de introduzir a empresa, por variados motivos, limitando-se a formas mais arcaicas de divulgação de seu trabalho, como panfletos e cartões de visita.</a:t>
            </a:r>
            <a:endParaRPr lang="pt-BR" altLang="pt-BR" sz="1600" dirty="0">
              <a:latin typeface="Times New Roman" panose="02020603050405020304" pitchFamily="18" charset="0"/>
            </a:endParaRPr>
          </a:p>
        </p:txBody>
      </p:sp>
      <p:sp>
        <p:nvSpPr>
          <p:cNvPr id="26" name="Text Box 6">
            <a:extLst>
              <a:ext uri="{FF2B5EF4-FFF2-40B4-BE49-F238E27FC236}">
                <a16:creationId xmlns:a16="http://schemas.microsoft.com/office/drawing/2014/main" id="{1DD6B19F-1B54-E16E-A3B4-6D62C9B3A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6393" y="32378153"/>
            <a:ext cx="14498638" cy="4218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  <a:tab pos="13927138" algn="l"/>
                <a:tab pos="14376400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4400" b="1" dirty="0"/>
              <a:t>DADOS DA EMPRESA PARCEIRA DO PROJETO </a:t>
            </a:r>
          </a:p>
          <a:p>
            <a:pPr>
              <a:buClrTx/>
              <a:buFontTx/>
              <a:buNone/>
            </a:pPr>
            <a:endParaRPr lang="pt-BR" altLang="pt-BR" sz="3200" dirty="0">
              <a:cs typeface="Times New Roman" panose="02020603050405020304" pitchFamily="18" charset="0"/>
            </a:endParaRPr>
          </a:p>
          <a:p>
            <a:pPr>
              <a:buClrTx/>
              <a:buFontTx/>
              <a:buNone/>
            </a:pPr>
            <a:r>
              <a:rPr lang="pt-BR" altLang="pt-BR" sz="3600" dirty="0">
                <a:cs typeface="Times New Roman" panose="02020603050405020304" pitchFamily="18" charset="0"/>
              </a:rPr>
              <a:t>NOME DA EMPRESA: </a:t>
            </a:r>
            <a:r>
              <a:rPr lang="pt-BR" sz="3600" dirty="0"/>
              <a:t>Micros &amp; Cia Assistência Técnica</a:t>
            </a:r>
            <a:endParaRPr lang="pt-BR" altLang="pt-BR" sz="3600" dirty="0">
              <a:cs typeface="Times New Roman" panose="02020603050405020304" pitchFamily="18" charset="0"/>
            </a:endParaRPr>
          </a:p>
          <a:p>
            <a:pPr>
              <a:buClrTx/>
              <a:buFontTx/>
              <a:buNone/>
            </a:pPr>
            <a:r>
              <a:rPr lang="pt-BR" altLang="pt-BR" sz="3600" dirty="0">
                <a:cs typeface="Times New Roman" panose="02020603050405020304" pitchFamily="18" charset="0"/>
              </a:rPr>
              <a:t>ENDEREÇO: </a:t>
            </a:r>
            <a:r>
              <a:rPr lang="pt-BR" sz="3600" dirty="0"/>
              <a:t>Rua Costa Aguiar, 2392 - Ipiranga, São Paulo - SP</a:t>
            </a:r>
            <a:endParaRPr lang="pt-BR" altLang="pt-BR" sz="1050" dirty="0">
              <a:cs typeface="Times New Roman" panose="02020603050405020304" pitchFamily="18" charset="0"/>
            </a:endParaRPr>
          </a:p>
          <a:p>
            <a:pPr>
              <a:buClrTx/>
              <a:buFontTx/>
              <a:buNone/>
            </a:pPr>
            <a:r>
              <a:rPr lang="pt-BR" altLang="pt-BR" sz="3600" dirty="0">
                <a:cs typeface="Times New Roman" panose="02020603050405020304" pitchFamily="18" charset="0"/>
              </a:rPr>
              <a:t>EMAIL: </a:t>
            </a:r>
            <a:r>
              <a:rPr lang="pt-BR" altLang="pt-BR" sz="3600" dirty="0">
                <a:cs typeface="Times New Roman" panose="02020603050405020304" pitchFamily="18" charset="0"/>
                <a:hlinkClick r:id="rId3"/>
              </a:rPr>
              <a:t>micros.cia@gmail.com</a:t>
            </a:r>
            <a:r>
              <a:rPr lang="pt-BR" altLang="pt-BR" sz="3600" dirty="0">
                <a:cs typeface="Times New Roman" panose="02020603050405020304" pitchFamily="18" charset="0"/>
              </a:rPr>
              <a:t> </a:t>
            </a:r>
          </a:p>
          <a:p>
            <a:pPr>
              <a:buClrTx/>
              <a:buFontTx/>
              <a:buNone/>
            </a:pPr>
            <a:r>
              <a:rPr lang="pt-BR" altLang="pt-BR" sz="3600" dirty="0">
                <a:cs typeface="Times New Roman" panose="02020603050405020304" pitchFamily="18" charset="0"/>
              </a:rPr>
              <a:t>SEGMENTO DA ATUAÇÃO: </a:t>
            </a:r>
            <a:r>
              <a:rPr lang="pt-BR" sz="3600" dirty="0"/>
              <a:t>Assistência Técnica/Informática</a:t>
            </a:r>
            <a:endParaRPr lang="pt-BR" altLang="pt-BR" sz="3600" dirty="0">
              <a:cs typeface="Times New Roman" panose="02020603050405020304" pitchFamily="18" charset="0"/>
            </a:endParaRPr>
          </a:p>
          <a:p>
            <a:pPr>
              <a:buClrTx/>
              <a:buFontTx/>
              <a:buNone/>
            </a:pPr>
            <a:endParaRPr lang="pt-BR" altLang="pt-BR" sz="2400" dirty="0">
              <a:cs typeface="Times New Roman" panose="02020603050405020304" pitchFamily="18" charset="0"/>
            </a:endParaRPr>
          </a:p>
          <a:p>
            <a:pPr>
              <a:buClrTx/>
              <a:buFontTx/>
              <a:buNone/>
            </a:pPr>
            <a:endParaRPr lang="pt-BR" altLang="pt-BR" sz="2400" dirty="0">
              <a:cs typeface="Times New Roman" panose="02020603050405020304" pitchFamily="18" charset="0"/>
            </a:endParaRPr>
          </a:p>
        </p:txBody>
      </p:sp>
      <p:sp>
        <p:nvSpPr>
          <p:cNvPr id="33" name="Text Box 13">
            <a:extLst>
              <a:ext uri="{FF2B5EF4-FFF2-40B4-BE49-F238E27FC236}">
                <a16:creationId xmlns:a16="http://schemas.microsoft.com/office/drawing/2014/main" id="{820D7143-8B20-110C-784D-0CEDE24B9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816" y="9324372"/>
            <a:ext cx="13841413" cy="557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4400" b="1" dirty="0"/>
              <a:t>OBJETIVO DO PROJETO</a:t>
            </a:r>
          </a:p>
          <a:p>
            <a:pPr>
              <a:buClrTx/>
              <a:buFontTx/>
              <a:buNone/>
            </a:pPr>
            <a:endParaRPr lang="pt-BR" altLang="pt-BR" sz="4400" dirty="0"/>
          </a:p>
          <a:p>
            <a:pPr>
              <a:buClrTx/>
              <a:buFontTx/>
              <a:buNone/>
            </a:pPr>
            <a:r>
              <a:rPr lang="pt-BR" sz="4400" dirty="0"/>
              <a:t>Este projeto tem como objetivo ajudar a empresa de informática Micros &amp; Cia, uma empresa que presta assistência técnica de computadores e impressoras, localizada no bairro do Ipiranga, na cidade de São Paulo</a:t>
            </a:r>
            <a:r>
              <a:rPr lang="pt-BR" sz="4800" dirty="0"/>
              <a:t>.</a:t>
            </a:r>
            <a:endParaRPr lang="pt-BR" altLang="pt-BR" sz="1800" dirty="0">
              <a:latin typeface="Times New Roman" panose="02020603050405020304" pitchFamily="18" charset="0"/>
            </a:endParaRPr>
          </a:p>
          <a:p>
            <a:pPr algn="just">
              <a:buClrTx/>
              <a:buFontTx/>
              <a:buNone/>
            </a:pPr>
            <a:endParaRPr lang="pt-BR" altLang="pt-BR" sz="4400" dirty="0">
              <a:latin typeface="Times New Roman" panose="02020603050405020304" pitchFamily="18" charset="0"/>
            </a:endParaRPr>
          </a:p>
        </p:txBody>
      </p:sp>
      <p:sp>
        <p:nvSpPr>
          <p:cNvPr id="34" name="Text Box 14">
            <a:extLst>
              <a:ext uri="{FF2B5EF4-FFF2-40B4-BE49-F238E27FC236}">
                <a16:creationId xmlns:a16="http://schemas.microsoft.com/office/drawing/2014/main" id="{F72B0911-45F1-7BD9-431D-EC409F4A1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816" y="32378153"/>
            <a:ext cx="13841413" cy="4834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4400" b="1" dirty="0"/>
              <a:t>PROPOSTA DE MELHORIA</a:t>
            </a:r>
          </a:p>
          <a:p>
            <a:pPr>
              <a:buClrTx/>
              <a:buFontTx/>
              <a:buNone/>
            </a:pPr>
            <a:endParaRPr lang="pt-BR" altLang="pt-BR" sz="4400" dirty="0"/>
          </a:p>
          <a:p>
            <a:pPr>
              <a:buClrTx/>
              <a:buFontTx/>
              <a:buNone/>
            </a:pPr>
            <a:r>
              <a:rPr lang="pt-BR" sz="4400" dirty="0"/>
              <a:t>Nossa proposta do projeto para resolver este problema foi a criação de um website de portfólio com objetivo de divulgar a empresa. O site seria produzido atendendo feedbacks constantes da empresa para torná-lo de acordo com as suas necessidades.</a:t>
            </a:r>
            <a:endParaRPr lang="pt-BR" altLang="pt-BR" sz="1600" dirty="0"/>
          </a:p>
        </p:txBody>
      </p:sp>
      <p:sp>
        <p:nvSpPr>
          <p:cNvPr id="35" name="Text Box 15">
            <a:extLst>
              <a:ext uri="{FF2B5EF4-FFF2-40B4-BE49-F238E27FC236}">
                <a16:creationId xmlns:a16="http://schemas.microsoft.com/office/drawing/2014/main" id="{3DC74583-4B44-E2DB-1FE7-E18271D3DA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6393" y="9324372"/>
            <a:ext cx="13841412" cy="5511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4400" b="1" dirty="0"/>
              <a:t>COMUNIDADE IMPACTADA</a:t>
            </a:r>
          </a:p>
          <a:p>
            <a:pPr>
              <a:buClrTx/>
              <a:buFontTx/>
              <a:buNone/>
            </a:pPr>
            <a:endParaRPr lang="pt-BR" altLang="pt-BR" sz="4400" dirty="0"/>
          </a:p>
          <a:p>
            <a:r>
              <a:rPr lang="pt-BR" sz="4400" dirty="0"/>
              <a:t>Este site tem o objetivo de impactar na divulgação da empresa e, consequentemente, atrair possíveis clientes, fazendo-os conhecerem melhor os serviços oferecidos pela empresa Micros &amp; Cia.</a:t>
            </a:r>
            <a:endParaRPr lang="pt-BR" sz="2800" dirty="0"/>
          </a:p>
          <a:p>
            <a:br>
              <a:rPr lang="pt-BR" sz="4400" dirty="0"/>
            </a:br>
            <a:endParaRPr lang="pt-BR" altLang="pt-BR" sz="4400" dirty="0"/>
          </a:p>
        </p:txBody>
      </p:sp>
      <p:sp>
        <p:nvSpPr>
          <p:cNvPr id="36" name="Text Box 16">
            <a:extLst>
              <a:ext uri="{FF2B5EF4-FFF2-40B4-BE49-F238E27FC236}">
                <a16:creationId xmlns:a16="http://schemas.microsoft.com/office/drawing/2014/main" id="{0041BD10-DD09-1296-7BBF-3B5622008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8142" y="20635818"/>
            <a:ext cx="13841413" cy="5511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  <a:tab pos="11231563" algn="l"/>
                <a:tab pos="11680825" algn="l"/>
                <a:tab pos="12130088" algn="l"/>
                <a:tab pos="12579350" algn="l"/>
                <a:tab pos="13028613" algn="l"/>
                <a:tab pos="13477875" algn="l"/>
              </a:tabLst>
              <a:defRPr sz="89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>
              <a:buClrTx/>
              <a:buFontTx/>
              <a:buNone/>
            </a:pPr>
            <a:r>
              <a:rPr lang="pt-BR" altLang="pt-BR" sz="4400" b="1" dirty="0"/>
              <a:t>RELATÓRIOS FINAL</a:t>
            </a:r>
          </a:p>
          <a:p>
            <a:pPr>
              <a:buClrTx/>
              <a:buFontTx/>
              <a:buNone/>
            </a:pPr>
            <a:endParaRPr lang="pt-BR" altLang="pt-BR" sz="4400" dirty="0"/>
          </a:p>
          <a:p>
            <a:pPr>
              <a:buClrTx/>
              <a:buFontTx/>
              <a:buNone/>
            </a:pPr>
            <a:r>
              <a:rPr lang="pt-BR" sz="4400" dirty="0"/>
              <a:t>O site foi produzido durante um período de dois meses, atendendo feedback constante da responsável pela empresa. O site finalizado está hospedado na plataforma “GitHub Pages” e pode ser acessado pelo domínio personalizado e fornecido pela própria empresa </a:t>
            </a:r>
            <a:r>
              <a:rPr lang="pt-BR" sz="4400" u="sng" dirty="0">
                <a:hlinkClick r:id="rId4"/>
              </a:rPr>
              <a:t>https://www.microsecia.com.br</a:t>
            </a:r>
            <a:r>
              <a:rPr lang="pt-BR" sz="4400" u="sng" dirty="0"/>
              <a:t>.</a:t>
            </a:r>
            <a:endParaRPr lang="pt-BR" altLang="pt-BR" sz="700" dirty="0"/>
          </a:p>
        </p:txBody>
      </p:sp>
    </p:spTree>
    <p:extLst>
      <p:ext uri="{BB962C8B-B14F-4D97-AF65-F5344CB8AC3E}">
        <p14:creationId xmlns:p14="http://schemas.microsoft.com/office/powerpoint/2010/main" val="6626370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331</Words>
  <Application>Microsoft Office PowerPoint</Application>
  <PresentationFormat>Personalizar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Garamond</vt:lpstr>
      <vt:lpstr>Times New Roman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Aurellio Falkoski</cp:lastModifiedBy>
  <cp:revision>2</cp:revision>
  <dcterms:modified xsi:type="dcterms:W3CDTF">2026-05-27T15:40:51Z</dcterms:modified>
</cp:coreProperties>
</file>